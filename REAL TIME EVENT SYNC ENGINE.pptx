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71" r:id="rId2"/>
    <p:sldId id="257" r:id="rId3"/>
    <p:sldId id="258" r:id="rId4"/>
    <p:sldId id="259" r:id="rId5"/>
    <p:sldId id="260" r:id="rId6"/>
    <p:sldId id="261" r:id="rId7"/>
    <p:sldId id="262" r:id="rId8"/>
    <p:sldId id="263" r:id="rId9"/>
    <p:sldId id="264" r:id="rId10"/>
    <p:sldId id="269" r:id="rId11"/>
    <p:sldId id="267" r:id="rId12"/>
    <p:sldId id="270" r:id="rId13"/>
    <p:sldId id="265" r:id="rId14"/>
  </p:sldIdLst>
  <p:sldSz cx="18288000" cy="10287000"/>
  <p:notesSz cx="6858000" cy="9144000"/>
  <p:embeddedFontLst>
    <p:embeddedFont>
      <p:font typeface="Bookman Old Style" panose="02050604050505020204" pitchFamily="18" charset="0"/>
      <p:regular r:id="rId15"/>
      <p:bold r:id="rId16"/>
      <p:italic r:id="rId17"/>
    </p:embeddedFont>
    <p:embeddedFont>
      <p:font typeface="Cambria" panose="02040503050406030204" pitchFamily="18" charset="0"/>
      <p:regular r:id="rId18"/>
      <p:bold r:id="rId19"/>
      <p:italic r:id="rId20"/>
      <p:boldItalic r:id="rId21"/>
    </p:embeddedFont>
    <p:embeddedFont>
      <p:font typeface="Gotham" panose="020B0604020202020204" charset="0"/>
      <p:regular r:id="rId22"/>
    </p:embeddedFont>
    <p:embeddedFont>
      <p:font typeface="Gotham Bold Italics" panose="020B0604020202020204" charset="0"/>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showGuides="1">
      <p:cViewPr varScale="1">
        <p:scale>
          <a:sx n="34" d="100"/>
          <a:sy n="34" d="100"/>
        </p:scale>
        <p:origin x="14" y="51"/>
      </p:cViewPr>
      <p:guideLst>
        <p:guide orient="horz" pos="2089"/>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24-03-2026</a:t>
            </a:r>
          </a:p>
        </p:txBody>
      </p:sp>
      <p:sp>
        <p:nvSpPr>
          <p:cNvPr id="13" name="TextBox 12"/>
          <p:cNvSpPr txBox="1"/>
          <p:nvPr/>
        </p:nvSpPr>
        <p:spPr>
          <a:xfrm>
            <a:off x="1501640" y="5981700"/>
            <a:ext cx="15784162" cy="584775"/>
          </a:xfrm>
          <a:prstGeom prst="rect">
            <a:avLst/>
          </a:prstGeom>
          <a:noFill/>
        </p:spPr>
        <p:txBody>
          <a:bodyPr wrap="square" rtlCol="0">
            <a:spAutoFit/>
          </a:bodyPr>
          <a:lstStyle/>
          <a:p>
            <a:pPr algn="ctr"/>
            <a:r>
              <a:rPr lang="en-IN" sz="3200" dirty="0">
                <a:solidFill>
                  <a:srgbClr val="0033CC"/>
                </a:solidFill>
              </a:rPr>
              <a:t>Real-Time Event Synchronization Engine </a:t>
            </a:r>
            <a:endParaRPr lang="en-US" altLang="en-US"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G VARUN. VTU-26421</a:t>
            </a:r>
          </a:p>
          <a:p>
            <a:pPr>
              <a:lnSpc>
                <a:spcPct val="150000"/>
              </a:lnSpc>
            </a:pP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M.SUMITHRA</a:t>
            </a:r>
          </a:p>
        </p:txBody>
      </p:sp>
      <p:sp>
        <p:nvSpPr>
          <p:cNvPr id="16" name="TextBox 15"/>
          <p:cNvSpPr txBox="1"/>
          <p:nvPr/>
        </p:nvSpPr>
        <p:spPr>
          <a:xfrm>
            <a:off x="2209800" y="6972300"/>
            <a:ext cx="14743170" cy="398780"/>
          </a:xfrm>
          <a:prstGeom prst="rect">
            <a:avLst/>
          </a:prstGeom>
          <a:noFill/>
        </p:spPr>
        <p:txBody>
          <a:bodyPr wrap="square" rtlCol="0">
            <a:spAutoFit/>
          </a:bodyPr>
          <a:lstStyle/>
          <a:p>
            <a:r>
              <a:rPr lang="en-US" altLang="en-US" sz="2000" b="1" dirty="0">
                <a:latin typeface="Cambria" panose="02040503050406030204" pitchFamily="18" charset="0"/>
                <a:ea typeface="Cambria" panose="02040503050406030204" pitchFamily="18" charset="0"/>
              </a:rPr>
              <a:t>SDG: SDG 9 – Industry, Innovation and Infrastructure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791588" y="1706880"/>
            <a:ext cx="15082325" cy="6488828"/>
          </a:xfrm>
          <a:prstGeom prst="rect">
            <a:avLst/>
          </a:prstGeom>
          <a:noFill/>
        </p:spPr>
        <p:txBody>
          <a:bodyPr wrap="square" rtlCol="0">
            <a:spAutoFit/>
          </a:bodyPr>
          <a:lstStyle/>
          <a:p>
            <a:pPr>
              <a:lnSpc>
                <a:spcPct val="150000"/>
              </a:lnSpc>
            </a:pPr>
            <a:r>
              <a:rPr lang="en-GB" sz="2800" dirty="0"/>
              <a:t>This project, </a:t>
            </a:r>
            <a:r>
              <a:rPr lang="en-GB" sz="2800" b="1" dirty="0"/>
              <a:t>Real-Time Event Synchronizer Engine</a:t>
            </a:r>
            <a:r>
              <a:rPr lang="en-GB" sz="2800" dirty="0"/>
              <a:t>, is designed to overcome these limitations by enabling live event tracking and instant data synchronization. The system ensures that any change in an event is immediately reflected across all connected users without the need for manual refresh.</a:t>
            </a:r>
          </a:p>
          <a:p>
            <a:pPr>
              <a:lnSpc>
                <a:spcPct val="150000"/>
              </a:lnSpc>
            </a:pPr>
            <a:r>
              <a:rPr lang="en-GB" sz="2800" dirty="0"/>
              <a:t>By leveraging real-time communication technologies like Socket.IO, the platform provides a responsive and efficient way to manage and monitor events. It enhances communication, reduces latency, and improves overall system reliability.</a:t>
            </a:r>
          </a:p>
          <a:p>
            <a:pPr>
              <a:lnSpc>
                <a:spcPct val="150000"/>
              </a:lnSpc>
            </a:pPr>
            <a:r>
              <a:rPr lang="en-GB" sz="2800" dirty="0"/>
              <a:t>This solution is particularly useful in domains such as event management, logistics tracking, and live monitoring systems, where timely updates are critical for decision-making and operational efficiency.</a:t>
            </a:r>
          </a:p>
          <a:p>
            <a:pPr>
              <a:lnSpc>
                <a:spcPct val="150000"/>
              </a:lnSpc>
            </a:pPr>
            <a:r>
              <a:rPr lang="en-GB" sz="2800" dirty="0"/>
              <a:t>Real-time systems remove delays. That directly improves decision-making, coordination, and user experience. In fast-moving environments, delayed data is basically wrong data.</a:t>
            </a: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10259695"/>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lnSpc>
                <a:spcPct val="110000"/>
              </a:lnSpc>
            </a:pPr>
            <a:r>
              <a:rPr lang="en-US" altLang="en-US" sz="2800" dirty="0"/>
              <a:t>In many organizations and applications, event tracking is handled using traditional systems that lack real-time updates and efficient communication. Users are unable to monitor events instantly, and there is often a delay in receiving information. These systems also lack secure authentication and proper data management. This leads to inefficiency and poor user experience. Therefore, there is a need for a system that provides real-time tracking, secure user access, and instant updates to improve performance and reliability.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2" name="TextBox 51"/>
          <p:cNvSpPr txBox="1"/>
          <p:nvPr/>
        </p:nvSpPr>
        <p:spPr>
          <a:xfrm>
            <a:off x="2028825" y="689610"/>
            <a:ext cx="15263495" cy="7847330"/>
          </a:xfrm>
          <a:prstGeom prst="rect">
            <a:avLst/>
          </a:prstGeom>
          <a:noFill/>
        </p:spPr>
        <p:txBody>
          <a:bodyPr wrap="square" rtlCol="0">
            <a:noAutofit/>
          </a:bodyPr>
          <a:lstStyle/>
          <a:p>
            <a:pPr marL="457200" indent="-457200">
              <a:buFontTx/>
              <a:buChar char="-"/>
            </a:pPr>
            <a:endParaRPr lang="en-US" sz="2800" dirty="0"/>
          </a:p>
          <a:p>
            <a:pPr algn="just"/>
            <a:r>
              <a:rPr lang="en-US" sz="2800" dirty="0"/>
              <a:t> </a:t>
            </a:r>
          </a:p>
          <a:p>
            <a:pPr algn="just"/>
            <a:endParaRPr lang="en-US" sz="2800" dirty="0"/>
          </a:p>
          <a:p>
            <a:pPr algn="just"/>
            <a:endParaRPr lang="en-US" sz="2800" dirty="0"/>
          </a:p>
          <a:p>
            <a:pPr algn="just"/>
            <a:endParaRPr lang="en-US" sz="2800" dirty="0"/>
          </a:p>
          <a:p>
            <a:pPr marL="514350" indent="-514350" algn="just">
              <a:lnSpc>
                <a:spcPct val="120000"/>
              </a:lnSpc>
              <a:buFont typeface="+mj-lt"/>
              <a:buAutoNum type="arabicPeriod"/>
            </a:pPr>
            <a:r>
              <a:rPr lang="en-US" altLang="en-US" sz="2800" dirty="0"/>
              <a:t>To design and develop a real-time event tracking system using web technologies.</a:t>
            </a:r>
          </a:p>
          <a:p>
            <a:pPr marL="514350" indent="-514350" algn="just">
              <a:lnSpc>
                <a:spcPct val="120000"/>
              </a:lnSpc>
              <a:buFont typeface="+mj-lt"/>
              <a:buAutoNum type="arabicPeriod"/>
            </a:pPr>
            <a:r>
              <a:rPr lang="en-US" altLang="en-US" sz="2800" dirty="0"/>
              <a:t>To implement secure user authentication using JWT and encrypted passwords.</a:t>
            </a:r>
          </a:p>
          <a:p>
            <a:pPr marL="514350" indent="-514350" algn="just">
              <a:lnSpc>
                <a:spcPct val="120000"/>
              </a:lnSpc>
              <a:buFont typeface="+mj-lt"/>
              <a:buAutoNum type="arabicPeriod"/>
            </a:pPr>
            <a:r>
              <a:rPr lang="en-US" altLang="en-US" sz="2800" dirty="0"/>
              <a:t>To enable real-time communication using Socket.io.</a:t>
            </a:r>
          </a:p>
          <a:p>
            <a:pPr marL="514350" indent="-514350" algn="just">
              <a:lnSpc>
                <a:spcPct val="120000"/>
              </a:lnSpc>
              <a:buFont typeface="+mj-lt"/>
              <a:buAutoNum type="arabicPeriod"/>
            </a:pPr>
            <a:r>
              <a:rPr lang="en-US" altLang="en-US" sz="2800" dirty="0"/>
              <a:t>To manage event data efficiently using a MySQL database</a:t>
            </a:r>
          </a:p>
          <a:p>
            <a:pPr marL="514350" indent="-514350" algn="just">
              <a:lnSpc>
                <a:spcPct val="120000"/>
              </a:lnSpc>
              <a:buFont typeface="+mj-lt"/>
              <a:buAutoNum type="arabicPeriod"/>
            </a:pPr>
            <a:r>
              <a:rPr lang="en-GB" sz="2800" dirty="0"/>
              <a:t>To build a web-based system that enables real-time tracking and synchronization of events across multiple users and platforms.</a:t>
            </a:r>
          </a:p>
          <a:p>
            <a:pPr marL="514350" indent="-514350" algn="just">
              <a:lnSpc>
                <a:spcPct val="120000"/>
              </a:lnSpc>
              <a:buFont typeface="+mj-lt"/>
              <a:buAutoNum type="arabicPeriod"/>
            </a:pPr>
            <a:endParaRPr lang="en-US" alt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570676" y="1501974"/>
            <a:ext cx="16292949" cy="11221533"/>
          </a:xfrm>
          <a:prstGeom prst="rect">
            <a:avLst/>
          </a:prstGeom>
          <a:noFill/>
        </p:spPr>
        <p:txBody>
          <a:bodyPr wrap="square" rtlCol="0">
            <a:spAutoFit/>
          </a:bodyPr>
          <a:lstStyle/>
          <a:p>
            <a:pPr lvl="1" algn="just">
              <a:lnSpc>
                <a:spcPct val="140000"/>
              </a:lnSpc>
            </a:pPr>
            <a:r>
              <a:rPr lang="en-GB" sz="3200" dirty="0"/>
              <a:t>The proposed system is a web-based Real-Time Event Synchronizer Engine that enables instant tracking and synchronization of events across multiple users. It uses Socket.IO to establish persistent connections between the server and clients, allowing real-time data exchange without repeated requests. Whenever an event is created, updated, or deleted, the server immediately broadcasts the changes to all connected users, ensuring consistency and eliminating delays. The system includes secure user authentication, a centralized database for event storage, and a dynamic dashboard for live monitoring. This approach improves communication efficiency, reduces latency, and provides a scalable solution for applications that require continuous and accurate real-time updates.</a:t>
            </a:r>
            <a:endParaRPr lang="en-US" sz="3200" dirty="0"/>
          </a:p>
          <a:p>
            <a:pPr marL="457200" indent="-457200" algn="just">
              <a:buFontTx/>
              <a:buChar char="-"/>
            </a:pPr>
            <a:endParaRPr lang="en-US" sz="3200" dirty="0"/>
          </a:p>
          <a:p>
            <a:pPr marL="457200" indent="-457200" algn="just">
              <a:buFontTx/>
              <a:buChar char="-"/>
            </a:pPr>
            <a:endParaRPr lang="en-US" sz="3200" dirty="0"/>
          </a:p>
          <a:p>
            <a:pPr marL="457200" indent="-457200" algn="just">
              <a:buFontTx/>
              <a:buChar char="-"/>
            </a:pPr>
            <a:endParaRPr lang="en-US" sz="3200" dirty="0"/>
          </a:p>
          <a:p>
            <a:pPr marL="457200" indent="-457200" algn="just">
              <a:buFontTx/>
              <a:buChar char="-"/>
            </a:pPr>
            <a:endParaRPr lang="en-US" sz="3200" dirty="0"/>
          </a:p>
          <a:p>
            <a:pPr marL="457200" indent="-457200" algn="just">
              <a:buFontTx/>
              <a:buChar char="-"/>
            </a:pPr>
            <a:endParaRPr lang="en-US" sz="3200" dirty="0"/>
          </a:p>
          <a:p>
            <a:pPr marL="457200" indent="-457200" algn="just">
              <a:buFontTx/>
              <a:buChar char="-"/>
            </a:pPr>
            <a:endParaRPr lang="en-US" sz="3200" dirty="0"/>
          </a:p>
          <a:p>
            <a:pPr marL="457200" indent="-457200" algn="just">
              <a:buFontTx/>
              <a:buChar char="-"/>
            </a:pPr>
            <a:endParaRPr lang="en-US" sz="3200" dirty="0"/>
          </a:p>
          <a:p>
            <a:pPr marL="457200" indent="-457200" algn="just">
              <a:buFontTx/>
              <a:buChar char="-"/>
            </a:pPr>
            <a:endParaRPr lang="en-US" sz="3200" dirty="0"/>
          </a:p>
          <a:p>
            <a:pPr marL="457200" indent="-457200" algn="just">
              <a:buFontTx/>
              <a:buChar char="-"/>
            </a:pPr>
            <a:endParaRPr lang="en-US" sz="3200" dirty="0"/>
          </a:p>
          <a:p>
            <a:pPr marL="457200" indent="-457200" algn="just">
              <a:buFontTx/>
              <a:buChar char="-"/>
            </a:pPr>
            <a:endParaRPr lang="en-IN"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C5C235DD-5B0F-2BFF-FBB3-3F46A4A217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0400" y="1508810"/>
            <a:ext cx="12418257" cy="82788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4832092"/>
          </a:xfrm>
          <a:prstGeom prst="rect">
            <a:avLst/>
          </a:prstGeom>
          <a:noFill/>
        </p:spPr>
        <p:txBody>
          <a:bodyPr wrap="square" rtlCol="0">
            <a:spAutoFit/>
          </a:bodyPr>
          <a:lstStyle/>
          <a:p>
            <a:r>
              <a:rPr lang="en-US" sz="2800" dirty="0"/>
              <a:t>(Add 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4"/>
          <a:stretch>
            <a:fillRect/>
          </a:stretch>
        </p:blipFill>
        <p:spPr>
          <a:xfrm>
            <a:off x="2209800" y="1562100"/>
            <a:ext cx="12740005" cy="78822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932940" y="2024380"/>
            <a:ext cx="15359380" cy="8317230"/>
          </a:xfrm>
          <a:prstGeom prst="rect">
            <a:avLst/>
          </a:prstGeom>
          <a:noFill/>
        </p:spPr>
        <p:txBody>
          <a:bodyPr wrap="square" rtlCol="0">
            <a:noAutofit/>
          </a:bodyPr>
          <a:lstStyle/>
          <a:p>
            <a:pPr>
              <a:lnSpc>
                <a:spcPct val="80000"/>
              </a:lnSpc>
            </a:pPr>
            <a:r>
              <a:rPr lang="en-US" sz="2800" dirty="0">
                <a:solidFill>
                  <a:srgbClr val="0033CC"/>
                </a:solidFill>
              </a:rPr>
              <a:t>Frontend:</a:t>
            </a:r>
          </a:p>
          <a:p>
            <a:pPr>
              <a:lnSpc>
                <a:spcPct val="80000"/>
              </a:lnSpc>
            </a:pPr>
            <a:endParaRPr lang="en-US" sz="2800" dirty="0">
              <a:solidFill>
                <a:srgbClr val="0033CC"/>
              </a:solidFill>
            </a:endParaRPr>
          </a:p>
          <a:p>
            <a:pPr>
              <a:lnSpc>
                <a:spcPct val="80000"/>
              </a:lnSpc>
            </a:pPr>
            <a:r>
              <a:rPr lang="en-US" sz="2800" dirty="0"/>
              <a:t>1.HTML5</a:t>
            </a:r>
          </a:p>
          <a:p>
            <a:pPr>
              <a:lnSpc>
                <a:spcPct val="80000"/>
              </a:lnSpc>
            </a:pPr>
            <a:r>
              <a:rPr lang="en-US" sz="2800" dirty="0"/>
              <a:t>2.CSS3</a:t>
            </a:r>
          </a:p>
          <a:p>
            <a:pPr>
              <a:lnSpc>
                <a:spcPct val="80000"/>
              </a:lnSpc>
            </a:pPr>
            <a:r>
              <a:rPr lang="en-US" sz="2800" dirty="0"/>
              <a:t>3.Javascript</a:t>
            </a:r>
          </a:p>
          <a:p>
            <a:pPr>
              <a:lnSpc>
                <a:spcPct val="80000"/>
              </a:lnSpc>
            </a:pPr>
            <a:endParaRPr lang="en-US" sz="2800" dirty="0"/>
          </a:p>
          <a:p>
            <a:pPr>
              <a:lnSpc>
                <a:spcPct val="80000"/>
              </a:lnSpc>
            </a:pPr>
            <a:r>
              <a:rPr lang="en-US" sz="2800" dirty="0">
                <a:solidFill>
                  <a:srgbClr val="0033CC"/>
                </a:solidFill>
              </a:rPr>
              <a:t>Backend:</a:t>
            </a:r>
          </a:p>
          <a:p>
            <a:pPr>
              <a:lnSpc>
                <a:spcPct val="80000"/>
              </a:lnSpc>
            </a:pPr>
            <a:endParaRPr lang="en-US" sz="2800" dirty="0">
              <a:solidFill>
                <a:srgbClr val="0033CC"/>
              </a:solidFill>
            </a:endParaRPr>
          </a:p>
          <a:p>
            <a:pPr>
              <a:lnSpc>
                <a:spcPct val="80000"/>
              </a:lnSpc>
            </a:pPr>
            <a:r>
              <a:rPr lang="en-US" sz="2800" dirty="0"/>
              <a:t>1.Node.js.</a:t>
            </a:r>
          </a:p>
          <a:p>
            <a:pPr>
              <a:lnSpc>
                <a:spcPct val="80000"/>
              </a:lnSpc>
            </a:pPr>
            <a:r>
              <a:rPr lang="en-US" sz="2800" dirty="0"/>
              <a:t>2.Express.js</a:t>
            </a:r>
          </a:p>
          <a:p>
            <a:pPr>
              <a:lnSpc>
                <a:spcPct val="80000"/>
              </a:lnSpc>
            </a:pPr>
            <a:endParaRPr lang="en-US" sz="2800" dirty="0"/>
          </a:p>
          <a:p>
            <a:pPr>
              <a:lnSpc>
                <a:spcPct val="80000"/>
              </a:lnSpc>
            </a:pPr>
            <a:r>
              <a:rPr lang="en-US" sz="2800" dirty="0">
                <a:solidFill>
                  <a:srgbClr val="0033CC"/>
                </a:solidFill>
                <a:sym typeface="+mn-ea"/>
              </a:rPr>
              <a:t>Database</a:t>
            </a:r>
          </a:p>
          <a:p>
            <a:pPr>
              <a:lnSpc>
                <a:spcPct val="80000"/>
              </a:lnSpc>
            </a:pPr>
            <a:r>
              <a:rPr lang="en-US" sz="2800" dirty="0">
                <a:solidFill>
                  <a:srgbClr val="0033CC"/>
                </a:solidFill>
                <a:sym typeface="+mn-ea"/>
              </a:rPr>
              <a:t>:</a:t>
            </a:r>
          </a:p>
          <a:p>
            <a:pPr>
              <a:lnSpc>
                <a:spcPct val="80000"/>
              </a:lnSpc>
            </a:pPr>
            <a:r>
              <a:rPr lang="en-US" sz="2800" dirty="0">
                <a:solidFill>
                  <a:srgbClr val="0033CC"/>
                </a:solidFill>
                <a:sym typeface="+mn-ea"/>
              </a:rPr>
              <a:t>1. MySQL</a:t>
            </a:r>
          </a:p>
          <a:p>
            <a:pPr>
              <a:lnSpc>
                <a:spcPct val="80000"/>
              </a:lnSpc>
            </a:pPr>
            <a:endParaRPr lang="en-US" sz="2800" dirty="0"/>
          </a:p>
          <a:p>
            <a:pPr>
              <a:lnSpc>
                <a:spcPct val="80000"/>
              </a:lnSpc>
            </a:pPr>
            <a:r>
              <a:rPr lang="en-US" sz="2800" dirty="0">
                <a:solidFill>
                  <a:srgbClr val="0033CC"/>
                </a:solidFill>
              </a:rPr>
              <a:t>Tools:</a:t>
            </a:r>
          </a:p>
          <a:p>
            <a:pPr>
              <a:lnSpc>
                <a:spcPct val="80000"/>
              </a:lnSpc>
            </a:pPr>
            <a:endParaRPr lang="en-US" sz="2800" dirty="0">
              <a:solidFill>
                <a:srgbClr val="0033CC"/>
              </a:solidFill>
            </a:endParaRPr>
          </a:p>
          <a:p>
            <a:pPr>
              <a:lnSpc>
                <a:spcPct val="80000"/>
              </a:lnSpc>
            </a:pPr>
            <a:r>
              <a:rPr lang="en-US" sz="2800" dirty="0"/>
              <a:t>1.VS Code</a:t>
            </a:r>
          </a:p>
          <a:p>
            <a:pPr>
              <a:lnSpc>
                <a:spcPct val="80000"/>
              </a:lnSpc>
            </a:pPr>
            <a:endParaRPr lang="en-US" sz="2800" dirty="0"/>
          </a:p>
          <a:p>
            <a:pPr>
              <a:lnSpc>
                <a:spcPct val="80000"/>
              </a:lnSpc>
            </a:pPr>
            <a:r>
              <a:rPr lang="en-US" sz="2800" dirty="0">
                <a:solidFill>
                  <a:srgbClr val="0033CC"/>
                </a:solidFill>
              </a:rPr>
              <a:t>Software Requirements</a:t>
            </a:r>
            <a:r>
              <a:rPr lang="en-US" sz="2800" dirty="0"/>
              <a:t>:</a:t>
            </a:r>
          </a:p>
          <a:p>
            <a:pPr>
              <a:lnSpc>
                <a:spcPct val="80000"/>
              </a:lnSpc>
            </a:pPr>
            <a:endParaRPr lang="en-US" sz="2800" dirty="0"/>
          </a:p>
          <a:p>
            <a:pPr>
              <a:lnSpc>
                <a:spcPct val="80000"/>
              </a:lnSpc>
            </a:pPr>
            <a:r>
              <a:rPr lang="en-US" sz="2800" dirty="0"/>
              <a:t>1.Windows / Mac </a:t>
            </a:r>
          </a:p>
          <a:p>
            <a:pPr>
              <a:lnSpc>
                <a:spcPct val="80000"/>
              </a:lnSpc>
            </a:pPr>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9570720"/>
          </a:xfrm>
          <a:prstGeom prst="rect">
            <a:avLst/>
          </a:prstGeom>
          <a:noFill/>
        </p:spPr>
        <p:txBody>
          <a:bodyPr wrap="square" rtlCol="0">
            <a:spAutoFit/>
          </a:bodyPr>
          <a:lstStyle/>
          <a:p>
            <a:endParaRPr lang="en-IN" sz="2800" b="1" dirty="0"/>
          </a:p>
          <a:p>
            <a:r>
              <a:rPr lang="en-US" altLang="en-US" sz="2800" b="1" dirty="0"/>
              <a:t>Module 1: User Management</a:t>
            </a:r>
          </a:p>
          <a:p>
            <a:endParaRPr lang="en-US" altLang="en-US" sz="2800" b="1" dirty="0"/>
          </a:p>
          <a:p>
            <a:r>
              <a:rPr lang="en-US" altLang="en-US" sz="2800" dirty="0"/>
              <a:t>Handles user registration, login, and authentication using JWT and bcrypt.</a:t>
            </a:r>
          </a:p>
          <a:p>
            <a:endParaRPr lang="en-US" altLang="en-US" sz="2800" dirty="0"/>
          </a:p>
          <a:p>
            <a:r>
              <a:rPr lang="en-US" altLang="en-US" sz="2800" b="1" dirty="0"/>
              <a:t>Module 2: Event Management</a:t>
            </a:r>
          </a:p>
          <a:p>
            <a:endParaRPr lang="en-US" altLang="en-US" sz="2800" b="1" dirty="0"/>
          </a:p>
          <a:p>
            <a:r>
              <a:rPr lang="en-US" altLang="en-US" sz="2800" dirty="0"/>
              <a:t>Allows users to create, update, and manage events.</a:t>
            </a:r>
          </a:p>
          <a:p>
            <a:endParaRPr lang="en-US" altLang="en-US" sz="2800" dirty="0"/>
          </a:p>
          <a:p>
            <a:r>
              <a:rPr lang="en-US" altLang="en-US" sz="2800" b="1" dirty="0"/>
              <a:t>Module 3: Real-Time Tracking</a:t>
            </a:r>
          </a:p>
          <a:p>
            <a:endParaRPr lang="en-US" altLang="en-US" sz="2800" b="1" dirty="0"/>
          </a:p>
          <a:p>
            <a:r>
              <a:rPr lang="en-US" altLang="en-US" sz="2800" dirty="0"/>
              <a:t>Uses Socket.io to provide live updates of events.</a:t>
            </a:r>
          </a:p>
          <a:p>
            <a:endParaRPr lang="en-US" altLang="en-US" sz="2800" dirty="0"/>
          </a:p>
          <a:p>
            <a:r>
              <a:rPr lang="en-US" altLang="en-US" sz="2800" b="1" dirty="0"/>
              <a:t>Module 4: Database Management</a:t>
            </a:r>
          </a:p>
          <a:p>
            <a:endParaRPr lang="en-US" altLang="en-US" sz="2800" b="1" dirty="0"/>
          </a:p>
          <a:p>
            <a:r>
              <a:rPr lang="en-US" altLang="en-US" sz="2800" dirty="0"/>
              <a:t>Stores user and event data securely in MySQL.</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Main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966D31C7-3707-B193-004D-494A91C8073D}"/>
              </a:ext>
            </a:extLst>
          </p:cNvPr>
          <p:cNvPicPr>
            <a:picLocks noChangeAspect="1"/>
          </p:cNvPicPr>
          <p:nvPr/>
        </p:nvPicPr>
        <p:blipFill>
          <a:blip r:embed="rId4"/>
          <a:stretch>
            <a:fillRect/>
          </a:stretch>
        </p:blipFill>
        <p:spPr>
          <a:xfrm>
            <a:off x="3964986" y="2685985"/>
            <a:ext cx="10358028" cy="49150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0605F898-4DDB-7DB6-CD0F-A5CFE9CB250A}"/>
              </a:ext>
            </a:extLst>
          </p:cNvPr>
          <p:cNvPicPr>
            <a:picLocks noChangeAspect="1"/>
          </p:cNvPicPr>
          <p:nvPr/>
        </p:nvPicPr>
        <p:blipFill>
          <a:blip r:embed="rId4"/>
          <a:stretch>
            <a:fillRect/>
          </a:stretch>
        </p:blipFill>
        <p:spPr>
          <a:xfrm>
            <a:off x="3921442" y="2620669"/>
            <a:ext cx="10445116" cy="504566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1" y="1638301"/>
            <a:ext cx="14576560" cy="8709025"/>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pPr marL="514350" indent="-514350">
              <a:buFont typeface="+mj-lt"/>
              <a:buAutoNum type="arabicPeriod"/>
            </a:pPr>
            <a:r>
              <a:rPr lang="en-US" altLang="en-US" sz="2800" dirty="0"/>
              <a:t>Real-time updates</a:t>
            </a:r>
          </a:p>
          <a:p>
            <a:pPr marL="514350" indent="-514350">
              <a:buFont typeface="+mj-lt"/>
              <a:buAutoNum type="arabicPeriod"/>
            </a:pPr>
            <a:r>
              <a:rPr lang="en-US" altLang="en-US" sz="2800" dirty="0"/>
              <a:t>Secure authentication system</a:t>
            </a:r>
          </a:p>
          <a:p>
            <a:pPr marL="514350" indent="-514350">
              <a:buFont typeface="+mj-lt"/>
              <a:buAutoNum type="arabicPeriod"/>
            </a:pPr>
            <a:r>
              <a:rPr lang="en-US" altLang="en-US" sz="2800" dirty="0"/>
              <a:t>Fast and efficient</a:t>
            </a:r>
          </a:p>
          <a:p>
            <a:pPr marL="514350" indent="-514350">
              <a:buFont typeface="+mj-lt"/>
              <a:buAutoNum type="arabicPeriod"/>
            </a:pPr>
            <a:r>
              <a:rPr lang="en-US" altLang="en-US" sz="2800" dirty="0"/>
              <a:t>Scalable architectur</a:t>
            </a:r>
            <a:r>
              <a:rPr lang="en-US" sz="2800" dirty="0"/>
              <a:t>.</a:t>
            </a:r>
          </a:p>
          <a:p>
            <a:pPr marL="457200" indent="-457200">
              <a:buFontTx/>
              <a:buChar char="-"/>
            </a:pPr>
            <a:endParaRPr lang="en-US" sz="2800" dirty="0"/>
          </a:p>
          <a:p>
            <a:r>
              <a:rPr lang="en-US" sz="2800" b="1" dirty="0">
                <a:solidFill>
                  <a:srgbClr val="0033CC"/>
                </a:solidFill>
              </a:rPr>
              <a:t>Limitations:</a:t>
            </a:r>
          </a:p>
          <a:p>
            <a:r>
              <a:rPr lang="en-US" sz="2800" b="1" dirty="0"/>
              <a:t> </a:t>
            </a:r>
          </a:p>
          <a:p>
            <a:pPr marL="514350" indent="-514350">
              <a:buFont typeface="+mj-lt"/>
              <a:buAutoNum type="arabicPeriod"/>
            </a:pPr>
            <a:r>
              <a:rPr lang="en-US" altLang="en-US" sz="2800" dirty="0"/>
              <a:t>Requires internet connection</a:t>
            </a:r>
          </a:p>
          <a:p>
            <a:pPr marL="514350" indent="-514350">
              <a:buFont typeface="+mj-lt"/>
              <a:buAutoNum type="arabicPeriod"/>
            </a:pPr>
            <a:r>
              <a:rPr lang="en-US" altLang="en-US" sz="2800" dirty="0"/>
              <a:t>Depends on server availability</a:t>
            </a:r>
          </a:p>
          <a:p>
            <a:pPr marL="514350" indent="-514350">
              <a:buFont typeface="+mj-lt"/>
              <a:buAutoNum type="arabicPeriod"/>
            </a:pPr>
            <a:r>
              <a:rPr lang="en-US" altLang="en-US" sz="2800" dirty="0"/>
              <a:t>Basic UI design</a:t>
            </a:r>
          </a:p>
          <a:p>
            <a:pPr marL="514350" indent="-514350">
              <a:buFont typeface="+mj-lt"/>
              <a:buAutoNum type="arabicPeriod"/>
            </a:pPr>
            <a:r>
              <a:rPr lang="en-US" altLang="en-US" sz="2800" dirty="0"/>
              <a:t>Can be improved with more features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760</Words>
  <Application>Microsoft Office PowerPoint</Application>
  <PresentationFormat>Custom</PresentationFormat>
  <Paragraphs>281</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Gotham Bold Italics</vt:lpstr>
      <vt:lpstr>Cambria</vt:lpstr>
      <vt:lpstr>Bookman Old Style</vt:lpstr>
      <vt:lpstr>Times New Roman</vt:lpstr>
      <vt:lpstr>Gotham</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Jayadeep Gutha</dc:creator>
  <cp:lastModifiedBy>Jayadeep Gutha</cp:lastModifiedBy>
  <cp:revision>15</cp:revision>
  <dcterms:created xsi:type="dcterms:W3CDTF">2006-08-16T00:00:00Z</dcterms:created>
  <dcterms:modified xsi:type="dcterms:W3CDTF">2026-03-24T17:51:00Z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1033-12.1.0.25830</vt:lpwstr>
  </property>
  <property fmtid="{D5CDD505-2E9C-101B-9397-08002B2CF9AE}" pid="3" name="ICV">
    <vt:lpwstr>97B2B12E35B741408226F516E6722FCA_13</vt:lpwstr>
  </property>
</Properties>
</file>